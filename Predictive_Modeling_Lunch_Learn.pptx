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2"/>
    <p:restoredTop sz="96743"/>
  </p:normalViewPr>
  <p:slideViewPr>
    <p:cSldViewPr snapToGrid="0" snapToObjects="1">
      <p:cViewPr varScale="1">
        <p:scale>
          <a:sx n="194" d="100"/>
          <a:sy n="194" d="100"/>
        </p:scale>
        <p:origin x="256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5875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533AA-1EE0-8170-C171-0012BF18F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D52B61-459C-5E4A-3699-D39D0AA3DC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13FB8A-C5EE-F590-4D76-BF2DE31CCF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5190A2-169F-7F2A-9CEB-14EF0E6D46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429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ballard18/campaign-stats-modeling-intro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64008" cy="265176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49807" y="1744050"/>
            <a:ext cx="80299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Modeling for Campaigns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749808" y="2651760"/>
            <a:ext cx="3657600" cy="41148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9808" y="2788920"/>
            <a:ext cx="7891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 Into Using Statistics and Data Science Techniques to Answer Campaign Questions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49808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Charlie Ballard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We Doing Today?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we're using statistical modeling to answer three real campaign questions. The techniques are broadly applicable — but the examples are specific.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2514600" cy="3429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2514600" cy="137160"/>
          </a:xfrm>
          <a:prstGeom prst="rect">
            <a:avLst/>
          </a:prstGeom>
          <a:solidFill>
            <a:srgbClr val="3B5E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67512" y="166420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B5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67512" y="2249424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Models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67512" y="2715768"/>
            <a:ext cx="2194560" cy="3657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67512" y="2816352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how much was spent on each ad, how much more or less memorable was it than expected?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7512" y="41879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Ohio Voter Survey + Ad Spending Data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General Election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0" y="1417320"/>
            <a:ext cx="2514600" cy="3429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0" y="1417320"/>
            <a:ext cx="2514600" cy="137160"/>
          </a:xfrm>
          <a:prstGeom prst="rect">
            <a:avLst/>
          </a:prstGeom>
          <a:solidFill>
            <a:srgbClr val="0D6E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364992" y="166420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6E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3364992" y="2249424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and Classification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364992" y="2715768"/>
            <a:ext cx="2194560" cy="3657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364992" y="2816352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we identify counties that behave similarly in terms of election results?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64992" y="41879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General Election Results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897880" y="1417320"/>
            <a:ext cx="2514600" cy="3429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897880" y="1417320"/>
            <a:ext cx="2514600" cy="13716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062472" y="166420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6062472" y="2249424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062472" y="2715768"/>
            <a:ext cx="2194560" cy="3657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062472" y="2816352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we build custom audiences?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62472" y="41879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Ohio Voter Survey</a:t>
            </a:r>
          </a:p>
          <a:p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General Election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Models</a:t>
            </a:r>
          </a:p>
        </p:txBody>
      </p:sp>
      <p:sp>
        <p:nvSpPr>
          <p:cNvPr id="5" name="Shape 3"/>
          <p:cNvSpPr/>
          <p:nvPr/>
        </p:nvSpPr>
        <p:spPr>
          <a:xfrm>
            <a:off x="685800" y="2907792"/>
            <a:ext cx="3657600" cy="45720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1 campaign  ·  2023 General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Data: Issue 1 Ad Campaign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292608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2926080" cy="137160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ea typeface="Calibri" pitchFamily="34" charset="-122"/>
                <a:cs typeface="Calibri" pitchFamily="34" charset="-120"/>
              </a:rPr>
              <a:t>Ad spending and voter recall data from the 2023 Ohio Issue 1 campaign. For each ad: how much was spent and what % of voters recalled seeing it.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76272"/>
            <a:ext cx="2560320" cy="713232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21284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C6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417320" y="23774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 ads total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980944"/>
            <a:ext cx="2560320" cy="713232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3017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C6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1417320" y="318211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NO-side ads (Pro-Life)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785616"/>
            <a:ext cx="2560320" cy="713232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3822192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C6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1417320" y="3986784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YES-side ads (Pro-Choice)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804672"/>
          <a:ext cx="4800600" cy="3922776"/>
        </p:xfrm>
        <a:graphic>
          <a:graphicData uri="http://schemas.openxmlformats.org/drawingml/2006/table">
            <a:tbl>
              <a:tblPr/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Creative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Side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Spending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Recall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Protecting Predators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$227,000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21%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Women's Health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$927,020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25%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Hurt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$581,868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22%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After Viability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$1,407,863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42%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Martin Haskell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$1,554,932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18%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Studied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$3,499,222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76%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True Story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</a:rPr>
                        <a:t>YES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$1,998,163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62%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Insane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</a:rPr>
                        <a:t>YES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$1,838,141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51%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Do Not Judge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</a:rPr>
                        <a:t>YES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$1,653,698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44%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Broken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</a:rPr>
                        <a:t>YES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$1,603,698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47%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Model: Linear Regression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6908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69080" cy="137160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finds the single straight line that best describes the relationship between two variables — minimizing the total distance from every data point to the line.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578608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Asking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01752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meaningful relationship between ad spending and voter recall? If so, which ads over- or under-performed that expectation?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913632"/>
            <a:ext cx="3703320" cy="3657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4005072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finding the line that best captures the pattern in a scatter plot.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0" y="804672"/>
            <a:ext cx="425196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0" y="804672"/>
            <a:ext cx="4251960" cy="137160"/>
          </a:xfrm>
          <a:prstGeom prst="rect">
            <a:avLst/>
          </a:prstGeom>
          <a:solidFill>
            <a:srgbClr val="3B5E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0" y="100584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Setup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1481328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92040" y="153619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regressions: </a:t>
            </a: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run Spend → Recall and Recall → Spend separately, to read the relationship in both directions.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139696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92040" y="219456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intercept: </a:t>
            </a: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lines are forced through the origin. If you spend nothing, you get zero recall — a deliberate assumption.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2798064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92040" y="285292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predictor: </a:t>
            </a: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 uses a single input variable. Simplicity is a feature here, not a limitation.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0" y="3456432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92040" y="35112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</a:t>
            </a: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coefficient, an R², and a residual ("surplus") for every ad.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vs. Recall: The Pattern</a:t>
            </a:r>
            <a:endParaRPr lang="en-US" sz="2200" dirty="0"/>
          </a:p>
        </p:txBody>
      </p:sp>
      <p:pic>
        <p:nvPicPr>
          <p:cNvPr id="4" name="Image 0" descr="/sessions/clever-eloquent-edison/mnt/Lunch and Learn/plots/spending_vs_rec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19" y="841248"/>
            <a:ext cx="5422589" cy="39136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760720" y="841248"/>
            <a:ext cx="3108960" cy="39136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760720" y="841248"/>
            <a:ext cx="3108960" cy="137160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925312" y="1042416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Question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25312" y="146304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relationship between how much an ad spends and how well voters remember it?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25312" y="2267712"/>
            <a:ext cx="2788920" cy="3657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925312" y="23774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25312" y="274320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spending → higher recall. </a:t>
            </a:r>
          </a:p>
          <a:p>
            <a:pPr marL="0" indent="0">
              <a:buNone/>
            </a:pPr>
            <a:endParaRPr lang="en-US" sz="1100" dirty="0">
              <a:solidFill>
                <a:srgbClr val="2D374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ads punch above their weight while others underperform — </a:t>
            </a:r>
            <a:r>
              <a:rPr lang="en-US" sz="11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what we measure</a:t>
            </a: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925312" y="395020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TV ads  ·  YES &amp; NO sides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Model Fits: Coefficients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069080" cy="3931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069080" cy="137160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44752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draws the best-fit line through the data. We ran TWO regressions (both anchored at the origin — no intercept):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3703320" cy="621792"/>
          </a:xfrm>
          <a:prstGeom prst="rect">
            <a:avLst/>
          </a:prstGeom>
          <a:solidFill>
            <a:srgbClr val="E8E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64008" cy="621792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" y="2322576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6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= β</a:t>
            </a:r>
            <a:r>
              <a:rPr lang="en-US" sz="1400" b="1" baseline="-25000" dirty="0">
                <a:solidFill>
                  <a:srgbClr val="4C6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1400" b="1" dirty="0">
                <a:solidFill>
                  <a:srgbClr val="4C6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Recall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21792" y="265176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expected spend from recall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980944"/>
            <a:ext cx="3703320" cy="621792"/>
          </a:xfrm>
          <a:prstGeom prst="rect">
            <a:avLst/>
          </a:prstGeom>
          <a:solidFill>
            <a:srgbClr val="E8E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2980944"/>
            <a:ext cx="64008" cy="621792"/>
          </a:xfrm>
          <a:prstGeom prst="rect">
            <a:avLst/>
          </a:prstGeom>
          <a:solidFill>
            <a:srgbClr val="0D6E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1792" y="301752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6E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= β</a:t>
            </a:r>
            <a:r>
              <a:rPr lang="en-US" sz="1400" b="1" baseline="-25000" dirty="0">
                <a:solidFill>
                  <a:srgbClr val="0D6E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b="1" dirty="0">
                <a:solidFill>
                  <a:srgbClr val="0D6E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Spending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" y="3346704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expected recall from spend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675888"/>
            <a:ext cx="3703320" cy="3657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376732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spend nothing, you get zero recall — built into both models by design.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0" y="822960"/>
            <a:ext cx="4251960" cy="3931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572000" y="822960"/>
            <a:ext cx="4251960" cy="137160"/>
          </a:xfrm>
          <a:prstGeom prst="rect">
            <a:avLst/>
          </a:prstGeom>
          <a:solidFill>
            <a:srgbClr val="3B5E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754880" y="100584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754880" y="1463040"/>
            <a:ext cx="3886200" cy="960120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92040" y="15087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6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β₁ = 3,797,090   ·   R² = 0.94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92040" y="19202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+1 pt of recall → ~$38,000 more in spend. 50% recall ~1.89M estimated spend.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542032"/>
            <a:ext cx="3886200" cy="960120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92040" y="258775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6E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β₂ = 0.0000002484   ·   R² = 0.94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92040" y="299923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+$100K in spend → ~2.5 more pts of recall. 1M spend ~24.5% recall.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54880" y="3639312"/>
            <a:ext cx="3886200" cy="3657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754880" y="3749040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0.94 — the model explains 94% of variation. A very strong fit for a single-variable model.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Results: Surplus Columns</a:t>
            </a:r>
            <a:endParaRPr lang="en-US" sz="2200" dirty="0"/>
          </a:p>
        </p:txBody>
      </p:sp>
      <p:pic>
        <p:nvPicPr>
          <p:cNvPr id="4" name="Image 0" descr="/sessions/clever-eloquent-edison/mnt/Lunch and Learn/plots/results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8595360" cy="3749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4636008"/>
            <a:ext cx="9144000" cy="50749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365760" y="4636008"/>
            <a:ext cx="8412480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Surplus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actual minus predicted spend.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Surplus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actual minus predicted recall.  Positive = overperformed; negative = underperformed.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and Classification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685800" y="2907792"/>
            <a:ext cx="3657600" cy="457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General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Data: 88 Ohio Counties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292608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2926080" cy="1371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9463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ea typeface="Calibri" pitchFamily="34" charset="-122"/>
                <a:cs typeface="Calibri" pitchFamily="34" charset="-120"/>
              </a:rPr>
              <a:t>2024 General Election results for all 88 Ohio counties, converted to percentile ranks. Variables are ranked by percentile so each dimension is on the same scale, and for interpretability.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212848"/>
            <a:ext cx="2560320" cy="713232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24942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417320" y="241401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Ohio counties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2560320" cy="713232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3054096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9488"/>
                </a:solidFill>
                <a:latin typeface="Calibri" pitchFamily="34" charset="0"/>
                <a:cs typeface="Calibri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1417320" y="321868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variables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822192"/>
            <a:ext cx="2560320" cy="713232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385876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9488"/>
                </a:solidFill>
                <a:latin typeface="Calibri" pitchFamily="34" charset="0"/>
                <a:cs typeface="Calibri" pitchFamily="34" charset="-120"/>
              </a:rPr>
              <a:t>2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1417320" y="40233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5902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804672"/>
          <a:ext cx="5303520" cy="3922776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County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Turnout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Trump Votes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Harris Votes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70.9%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10,269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2,098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Allen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70.8%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33,201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12,754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Ashland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77.8%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19,863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6,544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Ashtabula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71.5%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27,656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15,345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Athens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68.0%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11,369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14,134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Franklin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66.4%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214,005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335,218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Cuyahoga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65.2%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178,900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371,256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Warren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79.2%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82,503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33,409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Delaware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79.8%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80,211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51,432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6616">
                <a:tc gridSpan="4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i="1" dirty="0">
                          <a:solidFill>
                            <a:srgbClr val="64748B"/>
                          </a:solidFill>
                        </a:rPr>
                        <a:t>… 79 more counties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Model: K-Means Clustering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6908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69080" cy="1371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is an unsupervised algorithm — it finds natural groupings in data without being told the right answer. You give it a number of clusters </a:t>
            </a:r>
            <a:r>
              <a:rPr lang="en-US" sz="1200" b="1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it figures out which points belong together.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578608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Asking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01752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Ohio counties naturally sort into distinct political types based on how Trump-y they lean and how engaged their voters are?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913632"/>
            <a:ext cx="3703320" cy="3657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4005072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regression, there's no outcome to predict — the algorithm discovers structure that already exists in the data.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0" y="804672"/>
            <a:ext cx="425196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0" y="804672"/>
            <a:ext cx="4251960" cy="137160"/>
          </a:xfrm>
          <a:prstGeom prst="rect">
            <a:avLst/>
          </a:prstGeom>
          <a:solidFill>
            <a:srgbClr val="0D6E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0" y="100584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1463040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54880" y="1463040"/>
            <a:ext cx="274320" cy="58521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73168" y="15727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02352" y="1517904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k starting centroids  </a:t>
            </a: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 place k cluster centers in the data space.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2121408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54880" y="2121408"/>
            <a:ext cx="274320" cy="58521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73168" y="2231136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102352" y="2176272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each county  </a:t>
            </a: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county joins whichever centroid it's closest to.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2779776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754880" y="2779776"/>
            <a:ext cx="274320" cy="58521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73168" y="2889504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102352" y="2834640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centroids  </a:t>
            </a: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each centroid to the average position of its counties.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3438144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754880" y="3438144"/>
            <a:ext cx="274320" cy="58521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73168" y="3547872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102352" y="3493008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stable  </a:t>
            </a: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stop changing — clusters have converged.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K: The Elbow Plot</a:t>
            </a:r>
            <a:endParaRPr lang="en-US" sz="2200" dirty="0"/>
          </a:p>
        </p:txBody>
      </p:sp>
      <p:pic>
        <p:nvPicPr>
          <p:cNvPr id="4" name="Image 0" descr="/sessions/clever-eloquent-edison/mnt/Lunch and Learn/plots/elbow_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04672"/>
            <a:ext cx="512064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0" y="822960"/>
            <a:ext cx="3154680" cy="3931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669280" y="822960"/>
            <a:ext cx="3154680" cy="1371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833872" y="102412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Pick K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833872" y="14813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needs a value for k before it runs. The elbow plot helps us choose wisely.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833872" y="21945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point shows how tight the clusters are — lower is more compact. We look for the elbow: the point where adding more clusters stops giving much benefit.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833872" y="3364992"/>
            <a:ext cx="2834640" cy="502920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870448" y="3392424"/>
            <a:ext cx="27432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4 is the sweet spot.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833872" y="3950208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clusters give us meaningfully different groups without over-splitting.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Clusters: Mapped</a:t>
            </a:r>
            <a:endParaRPr lang="en-US" sz="2200" dirty="0"/>
          </a:p>
        </p:txBody>
      </p:sp>
      <p:pic>
        <p:nvPicPr>
          <p:cNvPr id="4" name="Image 0" descr="/sessions/clever-eloquent-edison/mnt/Lunch and Learn/plots/cluster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777240"/>
            <a:ext cx="4754880" cy="3337560"/>
          </a:xfrm>
          <a:prstGeom prst="rect">
            <a:avLst/>
          </a:prstGeom>
        </p:spPr>
      </p:pic>
      <p:pic>
        <p:nvPicPr>
          <p:cNvPr id="5" name="Image 1" descr="/sessions/clever-eloquent-edison/mnt/Lunch and Learn/plots/cluster_profi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777240"/>
            <a:ext cx="3840480" cy="33375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4224528"/>
            <a:ext cx="91440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365760" y="4251960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counties colored by cluster  ·  Right: how each cluster compares to the statewide average on Trump and turnout percentile </a:t>
            </a:r>
          </a:p>
          <a:p>
            <a:pPr marL="0" indent="0">
              <a:buNone/>
            </a:pPr>
            <a:r>
              <a:rPr lang="en-US" sz="12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(dashed line = 50</a:t>
            </a:r>
            <a:r>
              <a:rPr lang="en-US" sz="1200" i="1" baseline="30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</a:t>
            </a:r>
            <a:r>
              <a:rPr lang="en-US" sz="12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percentile)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Four Clusters?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804672"/>
            <a:ext cx="4160520" cy="19019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28600" y="804672"/>
            <a:ext cx="91440" cy="190195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877824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68680" y="896112"/>
            <a:ext cx="3374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High-Engagement Republican Base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3533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counties   ·   Trump: ~80th pct   ·   Turnout: ~78th pct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719072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Trump percentiles + above-average turnout. Rural counties that show up and vote reliably Republican — the backbone of statewide margins.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804672"/>
            <a:ext cx="4160520" cy="19019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804672"/>
            <a:ext cx="91440" cy="1901952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37760" y="877824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394960" y="896112"/>
            <a:ext cx="3374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Low-Engagement Republican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13533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counties   ·   Trump: ~75th pct   ·   Turnout: ~27th pct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37760" y="1719072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as red as Cluster 1 but well below average turnout. The clearest mobilization opportunity for a Republican campaign.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8600" y="2834640"/>
            <a:ext cx="4160520" cy="19019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28600" y="2834640"/>
            <a:ext cx="91440" cy="19019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1480" y="29077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68680" y="2926080"/>
            <a:ext cx="3374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High-Engagement Democrat Base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1480" y="33832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counties   ·   Trump: ~31st pct   ·   Turnout: ~74th pct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11480" y="37490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Trump support combined with high turnout. Suburban counties where Democrats are most competitive — turnout already isn't the problem here.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2834640"/>
            <a:ext cx="4160520" cy="19019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754880" y="2834640"/>
            <a:ext cx="91440" cy="1901952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37760" y="29077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394960" y="2926080"/>
            <a:ext cx="3374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Low-Engagement Democrat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937760" y="33832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counties   ·   Trump: ~22nd pct   ·   Turnout: ~23rd pct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37760" y="37490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Trump percentiles paired with below-average turnout. Ohio's urban cores and Rust Belt cities. The largest upside for a Democratic mobilization effort.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580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365760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309067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1 campaign  ·  2023 General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Data: Ohio Voter Survey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292608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2926080" cy="137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post-election survey of Ohio voters with demographic characteristics and self-reported answers on two political questions: Trump image and Issue 1 Vote.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2560320" cy="658368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3682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925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691640" y="249631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Ohio respondents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081528"/>
            <a:ext cx="2560320" cy="658368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3118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91640" y="32461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 inputs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831336"/>
            <a:ext cx="2560320" cy="658368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38679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691640" y="39959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to predict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29000" y="804672"/>
            <a:ext cx="260604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429000" y="804672"/>
            <a:ext cx="2606040" cy="137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584448" y="10058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Features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584448" y="1536192"/>
            <a:ext cx="91440" cy="20116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767328" y="14813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584448" y="1847088"/>
            <a:ext cx="91440" cy="20116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767328" y="179222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584448" y="2157984"/>
            <a:ext cx="91440" cy="20116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767328" y="21031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84448" y="2468880"/>
            <a:ext cx="91440" cy="20116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767328" y="241401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584448" y="2779776"/>
            <a:ext cx="91440" cy="20116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767328" y="272491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584448" y="3090672"/>
            <a:ext cx="91440" cy="20116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767328" y="303580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584448" y="3401568"/>
            <a:ext cx="91440" cy="20116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767328" y="334670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584448" y="3712464"/>
            <a:ext cx="91440" cy="20116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767328" y="36576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Ethnicity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63640" y="804672"/>
            <a:ext cx="256032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263640" y="804672"/>
            <a:ext cx="2560320" cy="13716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419088" y="1005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Variables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19088" y="1481328"/>
            <a:ext cx="2240280" cy="923544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510528" y="153619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Trump Image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510528" y="192024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Favorable</a:t>
            </a: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vs.  </a:t>
            </a:r>
            <a:r>
              <a:rPr lang="en-US" sz="11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Unfavorable</a:t>
            </a:r>
            <a:endParaRPr lang="en-US" sz="1100" dirty="0">
              <a:solidFill>
                <a:schemeClr val="accent1"/>
              </a:solidFill>
            </a:endParaRPr>
          </a:p>
        </p:txBody>
      </p:sp>
      <p:sp>
        <p:nvSpPr>
          <p:cNvPr id="42" name="Text 40"/>
          <p:cNvSpPr/>
          <p:nvPr/>
        </p:nvSpPr>
        <p:spPr>
          <a:xfrm>
            <a:off x="6510528" y="2304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19088" y="2852928"/>
            <a:ext cx="2240280" cy="923544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510528" y="290779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1 Vote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510528" y="329184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Voted Yes</a:t>
            </a:r>
            <a:r>
              <a:rPr lang="en-US" sz="11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 </a:t>
            </a:r>
            <a:r>
              <a:rPr lang="en-US" sz="11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Voted No</a:t>
            </a:r>
            <a:endParaRPr lang="en-US" sz="1100" dirty="0">
              <a:solidFill>
                <a:schemeClr val="accent1"/>
              </a:solidFill>
            </a:endParaRPr>
          </a:p>
        </p:txBody>
      </p:sp>
      <p:sp>
        <p:nvSpPr>
          <p:cNvPr id="46" name="Text 44"/>
          <p:cNvSpPr/>
          <p:nvPr/>
        </p:nvSpPr>
        <p:spPr>
          <a:xfrm>
            <a:off x="6510528" y="36758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Model: XGBoost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6908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69080" cy="137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(eXtreme Gradient Boosting) builds a series of decision trees — each one learning from the mistakes of the last. The final prediction combines all the trees.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487168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Asking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demographic variables best predict Trump favorability? Which best predict Issue 1 vote? Do those rankings differ — and if so, how?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858768"/>
            <a:ext cx="3703320" cy="3657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395020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powerful than linear regression — handles non-linear relationships and interactions between variables automatically.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0" y="804672"/>
            <a:ext cx="425196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0" y="804672"/>
            <a:ext cx="4251960" cy="13716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0" y="100584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1463040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54880" y="1463040"/>
            <a:ext cx="274320" cy="58521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73168" y="15727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02352" y="1517904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1 makes a rough guess  </a:t>
            </a: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decision tree predicts the outcome for each respondent.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2121408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54880" y="2121408"/>
            <a:ext cx="274320" cy="58521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73168" y="2231136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102352" y="2176272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2 corrects the errors  </a:t>
            </a: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tree focuses on where Tree 1 got it wrong.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2779776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754880" y="2779776"/>
            <a:ext cx="274320" cy="58521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73168" y="2889504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102352" y="2834640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100 times  </a:t>
            </a: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round refines the model. Errors shrink with every tree.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3438144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754880" y="3438144"/>
            <a:ext cx="274320" cy="58521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73168" y="3547872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102352" y="3493008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probabilities + importance  </a:t>
            </a: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 scores each respondent and ranks which features mattered most.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Importance: Trump Favorability vs. Issue 1 Vote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822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Trump Favorability</a:t>
            </a:r>
            <a:endParaRPr lang="en-US" sz="1400" dirty="0"/>
          </a:p>
        </p:txBody>
      </p:sp>
      <p:pic>
        <p:nvPicPr>
          <p:cNvPr id="5" name="Image 0" descr="/sessions/clever-eloquent-edison/mnt/Lunch and Learn/plots/xgb_importance_tru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34440"/>
            <a:ext cx="4114800" cy="3566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754880" y="822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1 Vote</a:t>
            </a:r>
            <a:endParaRPr lang="en-US" sz="1400" dirty="0"/>
          </a:p>
        </p:txBody>
      </p:sp>
      <p:pic>
        <p:nvPicPr>
          <p:cNvPr id="7" name="Image 1" descr="/sessions/clever-eloquent-edison/mnt/Lunch and Learn/plots/xgb_importance_issu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234440"/>
            <a:ext cx="4114800" cy="3566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365760" y="4828032"/>
            <a:ext cx="84124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= how much each feature helped make correct predictions. Notice how the feature ranking shifts between the two models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Well Did the Models Do? (20% Held-Out Test Set)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6908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69080" cy="137160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Trump Favorability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4475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4C6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</a:t>
            </a:r>
            <a:r>
              <a:rPr lang="en-US" sz="1000" dirty="0"/>
              <a:t> 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76148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</a:t>
            </a: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rate — Unfavorable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69% </a:t>
            </a: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rate — Favorable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85876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at identifying unfavorable — the larger, more consistent group. Consider the sample bias towards Trump favorability.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00600" y="804672"/>
            <a:ext cx="406908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800600" y="804672"/>
            <a:ext cx="4069080" cy="1371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83480" y="10058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1 Vote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83480" y="144475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4983480" y="22219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</a:t>
            </a:r>
            <a:r>
              <a:rPr lang="en-US" sz="1000" dirty="0"/>
              <a:t> 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83480" y="276148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 </a:t>
            </a: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rate — Voted Yes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</a:t>
            </a: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rate — Voted No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385876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balanced across both outcomes — slightly more consistent predictor for Issue 1.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Models: Scoring Every Voter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384048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3840480" cy="137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Model to Action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trained, the XGBoost models are applied back to all 925 respondents — not just the held-out test set. Each person gets two scores: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3474720" cy="621792"/>
          </a:xfrm>
          <a:prstGeom prst="rect">
            <a:avLst/>
          </a:prstGeom>
          <a:solidFill>
            <a:srgbClr val="FFF8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64008" cy="62179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" y="24048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trump_fav_score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1792" y="2697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the respondent views Trump favorably (0 → 1)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3072384"/>
            <a:ext cx="3474720" cy="621792"/>
          </a:xfrm>
          <a:prstGeom prst="rect">
            <a:avLst/>
          </a:prstGeom>
          <a:solidFill>
            <a:srgbClr val="F0FD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3072384"/>
            <a:ext cx="64008" cy="62179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1792" y="3099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issue1_score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" y="339242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the respondent voted Yes on Issue 1 (0 → 1)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3474720" cy="3657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3858768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target: </a:t>
            </a: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issue1_score &gt; 0.6 AND </a:t>
            </a:r>
            <a:r>
              <a:rPr lang="en-US" sz="1000" i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trump_fav_score</a:t>
            </a: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&gt; 0.6 → cross-pressured voters who backed Issue 1 but are pro Trump.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43400" y="80467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Predicted Scores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207008"/>
          <a:ext cx="4526280" cy="233172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Party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Gender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Age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Trump Fav Score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Issue 1 Score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Republican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Male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65+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</a:rPr>
                        <a:t>0.85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</a:rPr>
                        <a:t>0.18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Independent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Male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45–64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</a:rPr>
                        <a:t>0.76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</a:rPr>
                        <a:t>0.26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No Party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Female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45–64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</a:rPr>
                        <a:t>0.58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</a:rPr>
                        <a:t>0.37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Democrat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Female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65+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</a:rPr>
                        <a:t>0.09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</a:rPr>
                        <a:t>0.89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Democrat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Female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65+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</a:rPr>
                        <a:t>0.11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</a:rPr>
                        <a:t>0.86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343400" y="3630168"/>
            <a:ext cx="4480560" cy="11704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8"/>
          <p:cNvSpPr/>
          <p:nvPr/>
        </p:nvSpPr>
        <p:spPr>
          <a:xfrm>
            <a:off x="4343400" y="3630168"/>
            <a:ext cx="4480560" cy="10972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498848" y="376732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these scores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498848" y="4114800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can be matched to a voter file to build targetable audiences — e.g. rank by issue1_score to prioritize persuasion outreach, or filter by both scores to find cross-pressured voters.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Wrapping Up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2651760" cy="42473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651760" cy="347472"/>
          </a:xfrm>
          <a:prstGeom prst="rect">
            <a:avLst/>
          </a:prstGeom>
          <a:solidFill>
            <a:srgbClr val="3B5E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29768" y="822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Models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152144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29768" y="1342066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Issue 1 ads over- or under-recalled relative to their spend?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" y="2029968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29768" y="209397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Strengths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29768" y="235000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R² = 0.94 — spend explains nearly all recall variance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29768" y="26334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Coefficients have direct dollar-per-point interpretation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291693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Residuals immediately rank each ad's efficiency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0040" y="3255264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29768" y="33192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Limitations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29768" y="357530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Only captures straight-line relationships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29768" y="383133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Can't control for creative quality or ad placement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0040" y="4142232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29768" y="42062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 expand</a:t>
            </a:r>
            <a:endParaRPr lang="en-US" sz="800" dirty="0">
              <a:solidFill>
                <a:schemeClr val="accent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429768" y="44622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GRP, markets, flight duration as predictors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29768" y="471830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Extend to digital channels and cross-campaign comparison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154680" y="804672"/>
            <a:ext cx="2651760" cy="42473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154680" y="804672"/>
            <a:ext cx="2651760" cy="34747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264408" y="822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Clustering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154680" y="1152144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264408" y="1342066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Ohio's 88 counties into 4 politically distinct types.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154680" y="2029968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264408" y="209397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Strengths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264408" y="235000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labeled data needed — finds natural structure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264408" y="26334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Cluster profiles immediately actionable for targeting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264408" y="291693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Scales to any number of features or geographies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154680" y="3255264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264408" y="33192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Limitations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264408" y="357530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Choosing k involves judgment; clusters can shift between runs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64408" y="383133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Doesn't explain why counties group together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154680" y="4142232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264408" y="42062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 expand</a:t>
            </a:r>
            <a:endParaRPr lang="en-US" sz="800" dirty="0">
              <a:solidFill>
                <a:schemeClr val="accent1"/>
              </a:solidFill>
            </a:endParaRPr>
          </a:p>
        </p:txBody>
      </p:sp>
      <p:sp>
        <p:nvSpPr>
          <p:cNvPr id="40" name="Text 38"/>
          <p:cNvSpPr/>
          <p:nvPr/>
        </p:nvSpPr>
        <p:spPr>
          <a:xfrm>
            <a:off x="3264408" y="44622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more variables like senate/congressional results or census data. </a:t>
            </a:r>
          </a:p>
        </p:txBody>
      </p:sp>
      <p:sp>
        <p:nvSpPr>
          <p:cNvPr id="41" name="Text 39"/>
          <p:cNvSpPr/>
          <p:nvPr/>
        </p:nvSpPr>
        <p:spPr>
          <a:xfrm>
            <a:off x="3264408" y="471830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Track cluster drift across election cycles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989320" y="804672"/>
            <a:ext cx="2651760" cy="42473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989320" y="804672"/>
            <a:ext cx="2651760" cy="347472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099048" y="822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89320" y="1152144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099048" y="1342066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all 925 respondents for Trump approval and Issue 1 propensity.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989320" y="2029968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099048" y="209397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Strengths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6099048" y="235000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80–81% accuracy from 8 demographic inputs alone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099048" y="26334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Feature importance reveals which variables actually drive each outcome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099048" y="291693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Scores usable directly for audience segmentation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989320" y="3255264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099048" y="33192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Limitations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099048" y="357530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Needs labeled outcomes to train; less interpretable at scale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099048" y="383133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Requires revalidation for new geographies or election cycles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989320" y="4142232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099048" y="42062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 expand</a:t>
            </a:r>
            <a:endParaRPr lang="en-US" sz="800" dirty="0">
              <a:solidFill>
                <a:schemeClr val="accent1"/>
              </a:solidFill>
            </a:endParaRPr>
          </a:p>
        </p:txBody>
      </p:sp>
      <p:sp>
        <p:nvSpPr>
          <p:cNvPr id="59" name="Text 57"/>
          <p:cNvSpPr/>
          <p:nvPr/>
        </p:nvSpPr>
        <p:spPr>
          <a:xfrm>
            <a:off x="6099048" y="44622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Push scores to full voter file for targeted outreach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099048" y="471830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Retrain with behavioral data (donation history, contact rates)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136160-5100-11F1-F9D8-0AD127FE5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7E7CAB2-B4D8-F8C9-E644-70123304F1C0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766ED4B-63E1-FCB4-F6EA-21B57C73A44D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D5CC95F-3ED4-99DA-724F-E37207777A4A}"/>
              </a:ext>
            </a:extLst>
          </p:cNvPr>
          <p:cNvSpPr/>
          <p:nvPr/>
        </p:nvSpPr>
        <p:spPr>
          <a:xfrm>
            <a:off x="502920" y="1234440"/>
            <a:ext cx="64008" cy="265176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16642DD-6ECB-4869-AF3A-7A68C4A4EBE4}"/>
              </a:ext>
            </a:extLst>
          </p:cNvPr>
          <p:cNvSpPr/>
          <p:nvPr/>
        </p:nvSpPr>
        <p:spPr>
          <a:xfrm>
            <a:off x="749808" y="1863536"/>
            <a:ext cx="7772400" cy="642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4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01B3CA7-E2FC-378F-B07E-C985C6D8EE7D}"/>
              </a:ext>
            </a:extLst>
          </p:cNvPr>
          <p:cNvSpPr/>
          <p:nvPr/>
        </p:nvSpPr>
        <p:spPr>
          <a:xfrm>
            <a:off x="749808" y="187452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5BAF3E3-216E-C052-B1ED-B469D4FC6C51}"/>
              </a:ext>
            </a:extLst>
          </p:cNvPr>
          <p:cNvSpPr/>
          <p:nvPr/>
        </p:nvSpPr>
        <p:spPr>
          <a:xfrm>
            <a:off x="749808" y="2651760"/>
            <a:ext cx="3657600" cy="41148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48B4FF6-5219-9EE6-54F7-B24C949CA1CC}"/>
              </a:ext>
            </a:extLst>
          </p:cNvPr>
          <p:cNvSpPr/>
          <p:nvPr/>
        </p:nvSpPr>
        <p:spPr>
          <a:xfrm>
            <a:off x="749808" y="27889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and a write up is available on my GitHub page linked </a:t>
            </a: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HERE</a:t>
            </a: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996F215-43AC-AE44-47F9-4DED6677F6D5}"/>
              </a:ext>
            </a:extLst>
          </p:cNvPr>
          <p:cNvSpPr/>
          <p:nvPr/>
        </p:nvSpPr>
        <p:spPr>
          <a:xfrm>
            <a:off x="749808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Charlie Ballard · 2026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911741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2037</Words>
  <Application>Microsoft Macintosh PowerPoint</Application>
  <PresentationFormat>On-screen Show (16:9)</PresentationFormat>
  <Paragraphs>365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Statistical Modeling Lunch &amp; Learn</dc:title>
  <dc:subject>PptxGenJS Presentation</dc:subject>
  <dc:creator>PptxGenJS</dc:creator>
  <cp:lastModifiedBy>Charlie Ballard</cp:lastModifiedBy>
  <cp:revision>22</cp:revision>
  <dcterms:created xsi:type="dcterms:W3CDTF">2026-04-08T14:56:16Z</dcterms:created>
  <dcterms:modified xsi:type="dcterms:W3CDTF">2026-04-23T16:09:03Z</dcterms:modified>
</cp:coreProperties>
</file>