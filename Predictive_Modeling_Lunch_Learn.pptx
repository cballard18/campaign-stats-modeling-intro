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87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533AA-1EE0-8170-C171-0012BF18F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52B61-459C-5E4A-3699-D39D0AA3D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13FB8A-C5EE-F590-4D76-BF2DE31CC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190A2-169F-7F2A-9CEB-14EF0E6D46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42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64008" cy="26517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097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Modeling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&amp; Learn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49808" y="2651760"/>
            <a:ext cx="3657600" cy="41148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Statistics and Data Science Techniques to Answer Campaign Questions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9808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Ballard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Doing Today?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we're using statistical modeling to answer three real campaign questions. The techniques are broadly applicable — but the examples are specific.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5146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514600" cy="137160"/>
          </a:xfrm>
          <a:prstGeom prst="rect">
            <a:avLst/>
          </a:prstGeom>
          <a:solidFill>
            <a:srgbClr val="3B5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16642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5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67512" y="2249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" y="2715768"/>
            <a:ext cx="219456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2816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how much was spent on each Issue 1 ad, how much more or less memorable was it than expected?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" y="4187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 for an advocacy group · 2023 General Election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5146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514600" cy="137160"/>
          </a:xfrm>
          <a:prstGeom prst="rect">
            <a:avLst/>
          </a:prstGeom>
          <a:solidFill>
            <a:srgbClr val="0D6E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6642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64992" y="2249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Classification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64992" y="2715768"/>
            <a:ext cx="219456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2816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identify Ohio counties that behave similarly in terms of 2024 General Election results?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4187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segmentation · 88 Ohio counties · 2024 General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97880" y="1417320"/>
            <a:ext cx="25146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97880" y="1417320"/>
            <a:ext cx="2514600" cy="1371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62472" y="166420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062472" y="224942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62472" y="2715768"/>
            <a:ext cx="219456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62472" y="2816352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build audiences around Trump approval rating and Issue 1 vote results?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62472" y="4187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modeling · ~925 Ohio voter survey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</a:p>
        </p:txBody>
      </p:sp>
      <p:sp>
        <p:nvSpPr>
          <p:cNvPr id="5" name="Shape 3"/>
          <p:cNvSpPr/>
          <p:nvPr/>
        </p:nvSpPr>
        <p:spPr>
          <a:xfrm>
            <a:off x="685800" y="2907792"/>
            <a:ext cx="3657600" cy="4572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spending  ·  Voter recall  ·  Issue 1 campaign  ·  2023 General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Issue 1 Ad Campaign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926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926080" cy="13716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Calibri" pitchFamily="34" charset="-122"/>
                <a:cs typeface="Calibri" pitchFamily="34" charset="-120"/>
              </a:rPr>
              <a:t>Ad spending and voter recall data from the 2023 Ohio Issue 1 campaign. For each ad: how much was spent and what % of voters recalled seeing it.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ads total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417320" y="3182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NO-side ads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85616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221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417320" y="39867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YES-side ads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804672"/>
          <a:ext cx="4800600" cy="3922776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Creative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Spending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Protecting Predators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$227,000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Women's Health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$927,020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Hurt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$581,868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After Viability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$1,407,863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42%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Martin Haskell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$1,554,932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Studied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$3,499,222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True Story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$1,998,163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Insane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$1,838,141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51%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Do Not Judge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$1,653,698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44%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Broken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$1,603,698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47%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Linear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13716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finds the single straight line that best describes the relationship between two variables — minimizing the total distance from every data point to the line.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meaningful relationship between ad spending and voter recall? If so, which ads over- or under-performed that expectation?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13632"/>
            <a:ext cx="37033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statistics background needed — think of it as finding the line that best captures the pattern in a scatter plot.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25196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4251960" cy="137160"/>
          </a:xfrm>
          <a:prstGeom prst="rect">
            <a:avLst/>
          </a:prstGeom>
          <a:solidFill>
            <a:srgbClr val="3B5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Setup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481328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regressions: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Spend → Recall and Recall → Spend separately, to read the relationship in both directions.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39696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intercept: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are forced through the origin. If you spend nothing, you get zero recall — a deliberate assumption.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98064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8529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predictor: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uses a single input variable. Simplicity is a feature here, not a limitation.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456432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35112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coefficient, an R², and a residual ("surplus") for every ad.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vs. Recall: The Pattern</a:t>
            </a:r>
            <a:endParaRPr lang="en-US" sz="2200" dirty="0"/>
          </a:p>
        </p:txBody>
      </p:sp>
      <p:pic>
        <p:nvPicPr>
          <p:cNvPr id="4" name="Image 0" descr="/sessions/clever-eloquent-edison/mnt/Lunch and Learn/plots/spending_vs_rec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21208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41248"/>
            <a:ext cx="3108960" cy="39136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841248"/>
            <a:ext cx="3108960" cy="13716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25312" y="10424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25312" y="1463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relationship between how much an ad spends and how well voters remember it?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25312" y="2267712"/>
            <a:ext cx="27889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25312" y="23774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25312" y="274320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spending → higher recall. But some ads punch above their weight while others underperform — that gap is what we measure.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25312" y="39502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TV ads  ·  YES &amp; NO sides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Fits: Coefficients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69080" cy="13716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draws the best-fit line through the data. We ran TWO regressions (both anchored at the origin — no intercept):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703320" cy="621792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64008" cy="62179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322576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= β</a:t>
            </a:r>
            <a:r>
              <a:rPr lang="en-US" sz="1400" b="1" baseline="-25000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4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Recall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" y="26517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expected recall from spending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3703320" cy="621792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64008" cy="621792"/>
          </a:xfrm>
          <a:prstGeom prst="rect">
            <a:avLst/>
          </a:prstGeom>
          <a:solidFill>
            <a:srgbClr val="0D6E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1752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β</a:t>
            </a:r>
            <a:r>
              <a:rPr lang="en-US" sz="1400" b="1" baseline="-25000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b="1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Spending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346704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expected spend from recall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37033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6732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spend nothing, you get zero recall — built into both models by design.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42519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822960"/>
            <a:ext cx="4251960" cy="137160"/>
          </a:xfrm>
          <a:prstGeom prst="rect">
            <a:avLst/>
          </a:prstGeom>
          <a:solidFill>
            <a:srgbClr val="3B5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3886200" cy="9601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= 3,797,090   ·   R² = 0.94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+1 pt of recall → ~$38,000 more in spend. 50% recall ~1.89M estimated spend.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542032"/>
            <a:ext cx="3886200" cy="9601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58775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β₂ = 0.0000002484   ·   R² = 0.94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299923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+$100K in spend → ~2.5 more pts of recall. 1M spend ~24.5% recall.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39312"/>
            <a:ext cx="388620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37490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0.94 — the model explains 94% of variation. A very strong fit for a single-variable model.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Results: Surplus Columns</a:t>
            </a:r>
            <a:endParaRPr lang="en-US" sz="2200" dirty="0"/>
          </a:p>
        </p:txBody>
      </p:sp>
      <p:pic>
        <p:nvPicPr>
          <p:cNvPr id="4" name="Image 0" descr="/sessions/clever-eloquent-edison/mnt/Lunch and Learn/plots/result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85953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65760" y="4636008"/>
            <a:ext cx="841248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Surplus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actual minus predicted spend.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Surplus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actual minus predicted recall.  Positive = overperformed; negative = underperformed.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and Classification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685800" y="2907792"/>
            <a:ext cx="36576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Ohio counties  ·  Trump percentile  ·  Turnout percentile  ·  2024 General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88 Ohio Counties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926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92608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46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ea typeface="Calibri" pitchFamily="34" charset="-122"/>
                <a:cs typeface="Calibri" pitchFamily="34" charset="-120"/>
              </a:rPr>
              <a:t>2024 General Election results for all 88 Ohio counties, converted to percentile ranks. Variables are ranked by percentile so each dimension is on the same scale, and for interpretability.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494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417320" y="24140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counties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540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417320" y="3218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variables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2560320" cy="713232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417320" y="4023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902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0" y="804672"/>
          <a:ext cx="5303520" cy="392277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Turnout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Trump Votes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Harris Votes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Adams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70.9%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10,269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2,098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Allen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70.8%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33,201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12,754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Ashland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77.8%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19,863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6,544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Ashtabula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71.5%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27,656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15,345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Athens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68.0%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11,369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14,134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Franklin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66.4%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214,005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335,218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Cuyahoga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65.2%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178,900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371,256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Warren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79.2%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82,503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33,409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Delaware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79.8%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80,211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</a:rPr>
                        <a:t>51,432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</a:rPr>
                        <a:t>… 79 more counties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K-Means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an unsupervised algorithm — it finds natural groupings in data without being told the right answer. You give it a number of clusters </a:t>
            </a:r>
            <a:r>
              <a:rPr lang="en-US" sz="1200" b="1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it figures out which points belong together.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Ohio counties naturally sort into distinct political types based on how Republican they lean and how engaged their voters are?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13632"/>
            <a:ext cx="37033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00507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regression, there's no outcome to predict — the algorithm discovers structure that already exists in the data.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25196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4251960" cy="137160"/>
          </a:xfrm>
          <a:prstGeom prst="rect">
            <a:avLst/>
          </a:prstGeom>
          <a:solidFill>
            <a:srgbClr val="0D6E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274320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51790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k starting centroids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place k cluster centers in the data space.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21408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121408"/>
            <a:ext cx="274320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22311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217627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county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county joins whichever centroid it's closest to.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779776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779776"/>
            <a:ext cx="274320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88950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02352" y="283464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centroids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each centroid to the average position of its counties.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38144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438144"/>
            <a:ext cx="274320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54787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02352" y="349300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stable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stop changing — clusters have converged.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K: The Elbow Plot</a:t>
            </a:r>
            <a:endParaRPr lang="en-US" sz="2200" dirty="0"/>
          </a:p>
        </p:txBody>
      </p:sp>
      <p:pic>
        <p:nvPicPr>
          <p:cNvPr id="4" name="Image 0" descr="/sessions/clever-eloquent-edison/mnt/Lunch and Learn/plots/elbow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1206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822960"/>
            <a:ext cx="3154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69280" y="822960"/>
            <a:ext cx="315468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33872" y="1024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Pick 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33872" y="14813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needs a value for k before it runs. The elbow plot helps us choose wisely.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33872" y="21945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shows how tight the clusters are — lower is more compact. We look for the elbow: the point where adding more clusters stops giving much benefit.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33872" y="3364992"/>
            <a:ext cx="2834640" cy="50292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70448" y="3392424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4 is the sweet spot.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833872" y="3950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clusters give us meaningfully different groups without over-splitting.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Clusters: Mapped</a:t>
            </a:r>
            <a:endParaRPr lang="en-US" sz="2200" dirty="0"/>
          </a:p>
        </p:txBody>
      </p:sp>
      <p:pic>
        <p:nvPicPr>
          <p:cNvPr id="4" name="Image 0" descr="/sessions/clever-eloquent-edison/mnt/Lunch and Learn/plots/cluster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754880" cy="3337560"/>
          </a:xfrm>
          <a:prstGeom prst="rect">
            <a:avLst/>
          </a:prstGeom>
        </p:spPr>
      </p:pic>
      <p:pic>
        <p:nvPicPr>
          <p:cNvPr id="5" name="Image 1" descr="/sessions/clever-eloquent-edison/mnt/Lunch and Learn/plots/cluster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777240"/>
            <a:ext cx="3840480" cy="3337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4224528"/>
            <a:ext cx="91440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425196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counties colored by cluster  ·  Right: how each cluster compares to the statewide average on Trump and turnout percentile 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(dashed line = 50</a:t>
            </a:r>
            <a:r>
              <a:rPr lang="en-US" sz="1200" i="1" baseline="30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percentile)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Clusters?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16052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91440" cy="190195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High-Engagement Republican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counties   ·   Trump: ~80th pct   ·   Turnout: ~78th pct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Trump percentiles + above-average turnout. Rural counties that show up and vote reliably Republican — the backbone of statewide margins.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6052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91440" cy="19019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87782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896112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Republican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53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counties   ·   Trump: ~75th pct   ·   Turnout: ~27th pct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719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as red as Cluster 1 but well below average turnout. The clearest mobilization opportunity for a Republican campaign.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416052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834640"/>
            <a:ext cx="91440" cy="19019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9077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68680" y="29260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High-Engagement Democrat 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counties   ·   Trump: ~31st pct   ·   Turnout: ~74th pct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Trump support combined with high turnout. Suburban counties where Democrats are most competitive — turnout already isn't the problem here.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4160520" cy="19019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91440" cy="19019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9077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394960" y="29260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Democrat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counties   ·   Trump: ~22nd pct   ·   Turnout: ~23rd pct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Trump percentiles paired with below-average turnout. Ohio's urban cores and Rust Belt cities. The largest upside for a Democratic mobilization effort.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685800" y="2926080"/>
            <a:ext cx="36576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906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~925 Ohio voters  ·  Demographics  ·  Trump favorability  ·  Issue 1 vote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Data: Ohio Voter Survey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926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92608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post-election survey of Ohio voters with demographic characteristics and self-reported answers on two political outcomes.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56032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3682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~925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2496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 respondents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56032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118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916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2560320" cy="658368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6791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to predict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804672"/>
            <a:ext cx="260604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29000" y="804672"/>
            <a:ext cx="260604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84448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84448" y="1536192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67328" y="1481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1847088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67328" y="17922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84448" y="2157984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67328" y="2103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84448" y="2468880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67328" y="24140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84448" y="2779776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67328" y="272491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84448" y="3090672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67328" y="30358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84448" y="3401568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67328" y="33467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84448" y="3712464"/>
            <a:ext cx="91440" cy="2011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767328" y="3657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804672"/>
            <a:ext cx="256032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63640" y="804672"/>
            <a:ext cx="2560320" cy="1371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19088" y="10058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19088" y="1481328"/>
            <a:ext cx="2240280" cy="123444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0528" y="15361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Image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10528" y="19202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 </a:t>
            </a: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Unfavorable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10528" y="23042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19088" y="2852928"/>
            <a:ext cx="2240280" cy="1234440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10528" y="29077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Vote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10528" y="3291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Voted Yes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vs.  </a:t>
            </a: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Voted No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10528" y="36758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Model: XGBoost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(eXtreme Gradient Boosting) builds a series of decision trees — each one learning from the mistakes of the last. The final prediction combines all the trees.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demographic variables best predict Trump favorability? Which best predict Issue 1 vote? Do those rankings differ — and if so, how?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37033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9502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powerful than linear regression — handles non-linear relationships and interactions between variables automatically.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425196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4251960" cy="1371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274320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57276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151790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 makes a rough guess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decision tree predicts the outcome for each respondent.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21408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121408"/>
            <a:ext cx="274320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73168" y="2231136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02352" y="217627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2 corrects the errors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tree focuses on where Tree 1 got it wrong.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779776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779776"/>
            <a:ext cx="274320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73168" y="2889504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02352" y="2834640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100 times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refines the model. Errors shrink with every tree.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38144"/>
            <a:ext cx="3886200" cy="58521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3438144"/>
            <a:ext cx="274320" cy="58521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547872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02352" y="349300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probabilities + importance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scores each respondent and ranks which features mattered most.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Trump Favorability vs. Issue 1 Vote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Favorability</a:t>
            </a:r>
            <a:endParaRPr lang="en-US" sz="1400" dirty="0"/>
          </a:p>
        </p:txBody>
      </p:sp>
      <p:pic>
        <p:nvPicPr>
          <p:cNvPr id="5" name="Image 0" descr="/sessions/clever-eloquent-edison/mnt/Lunch and Learn/plots/xgb_importance_tr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411480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Vote</a:t>
            </a:r>
            <a:endParaRPr lang="en-US" sz="1400" dirty="0"/>
          </a:p>
        </p:txBody>
      </p:sp>
      <p:pic>
        <p:nvPicPr>
          <p:cNvPr id="7" name="Image 1" descr="/sessions/clever-eloquent-edison/mnt/Lunch and Learn/plots/xgb_importance_issu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34440"/>
            <a:ext cx="4114800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how much each feature helped make correct predictions. Notice how the feature ranking shifts between the two models — that gap is the interesting finding.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Did the Models Do? (20% Held-Out Test Set)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137160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 Favorability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 — Unfavorable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 — Favorable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0.56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moderate agreement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at identifying unfavorable — the larger, more consistent group. Consider the sample bias towards Trump favorability.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804672"/>
            <a:ext cx="40690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804672"/>
            <a:ext cx="4069080" cy="1371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005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Vote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4475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983480" y="22219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761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 — Voted Yes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 — Voted No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 0.61 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moderate-to-good agreement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8587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balanced across both outcomes — slightly more consistent predictor for Issue 1.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Models: Scoring Every Voter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840480" cy="3995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384048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trained, the XGBoost models are applied back to all 925 respondents — not just the held-out test set. Each person gets two scores: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474720" cy="621792"/>
          </a:xfrm>
          <a:prstGeom prst="rect">
            <a:avLst/>
          </a:prstGeom>
          <a:solidFill>
            <a:srgbClr val="FFF8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64008" cy="6217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trump_fav_score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respondent views Trump favorably (0 → 1)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3474720" cy="621792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64008" cy="6217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30998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issue1_score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the respondent voted Yes on Issue 1 (0 → 1)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3474720" cy="36576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target: </a:t>
            </a: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issue1_score &gt; 0.6 AND trump_fav_score &lt; 0.4 → cross-pressured voters who backed Issue 1 but are skeptical of Trump.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43400" y="804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Predicted Scores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207008"/>
          <a:ext cx="4526280" cy="2331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Gender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Trump Fav 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Issue 1 Score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Republican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65+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0.18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Independent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45–64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0.76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No Party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Female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45–64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0.58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0.37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Democrat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Female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65+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0.09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0.89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Democrat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Female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</a:rPr>
                        <a:t>65+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0.11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0.86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343400" y="3630168"/>
            <a:ext cx="448056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8"/>
          <p:cNvSpPr/>
          <p:nvPr/>
        </p:nvSpPr>
        <p:spPr>
          <a:xfrm>
            <a:off x="4343400" y="3630168"/>
            <a:ext cx="4480560" cy="10972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498848" y="37673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these scores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98848" y="41148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 be matched to a voter file to build targetable audiences — e.g. rank by issue1_score to prioritize persuasion outreach, or filter by both scores to find cross-pressured voters.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651760" cy="42473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51760" cy="347472"/>
          </a:xfrm>
          <a:prstGeom prst="rect">
            <a:avLst/>
          </a:prstGeom>
          <a:solidFill>
            <a:srgbClr val="3B5E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822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5214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216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4538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Issue 1 ads over- or under-recalled relative to their spend?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2093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= 0.94 — spend explains nearly all recall variance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633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Coefficients have direct dollar-per-point interpretation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2916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Residuals immediately rank each ad's efficiency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25526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9768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captures straight-line relationships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control for creative quality or ad placement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142232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9768" y="4206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 expand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29768" y="4462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GRP, markets, flight duration as predictors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to digital channels and cross-campaign comparison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804672"/>
            <a:ext cx="2651760" cy="42473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804672"/>
            <a:ext cx="265176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64408" y="822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54680" y="115214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1216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64408" y="14538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Ohio's 88 counties into 4 politically distinct types.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2029968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64408" y="2093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4408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labeled data needed — finds natural structure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64408" y="2633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 profiles immediately actionable for targeting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4408" y="2916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Scales to any number of features or geographies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54680" y="325526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64408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64408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Choosing k involves judgment; clusters can shift between runs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64408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explain why counties group together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54680" y="4142232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64408" y="4206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 expand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64408" y="4462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more variables like senate/congressional results or census data. </a:t>
            </a:r>
          </a:p>
        </p:txBody>
      </p:sp>
      <p:sp>
        <p:nvSpPr>
          <p:cNvPr id="41" name="Text 39"/>
          <p:cNvSpPr/>
          <p:nvPr/>
        </p:nvSpPr>
        <p:spPr>
          <a:xfrm>
            <a:off x="3264408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cluster drift across election cycles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804672"/>
            <a:ext cx="2651760" cy="424738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989320" y="804672"/>
            <a:ext cx="2651760" cy="3474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99048" y="822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89320" y="115214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099048" y="121615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9048" y="14538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all 925 respondents for Trump approval and Issue 1 propensity.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89320" y="2029968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99048" y="20939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99048" y="23500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80–81% accuracy from 8 demographic inputs alone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099048" y="26334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reveals which variables actually drive each outcome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099048" y="2916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Scores usable directly for audience segmentation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89320" y="3255264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099048" y="3319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Limitations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99048" y="3575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Needs labeled outcomes to train; less interpretable at scale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099048" y="38313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revalidation for new geographies or election cycles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89320" y="4142232"/>
            <a:ext cx="2651760" cy="36576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99048" y="4206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 expand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6099048" y="44622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scores to full voter file for targeted outreach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099048" y="471830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Retrain with behavioral data (donation history, contact rates)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36160-5100-11F1-F9D8-0AD127FE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E7CAB2-B4D8-F8C9-E644-70123304F1C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766ED4B-63E1-FCB4-F6EA-21B57C73A44D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5CC95F-3ED4-99DA-724F-E37207777A4A}"/>
              </a:ext>
            </a:extLst>
          </p:cNvPr>
          <p:cNvSpPr/>
          <p:nvPr/>
        </p:nvSpPr>
        <p:spPr>
          <a:xfrm>
            <a:off x="502920" y="1234440"/>
            <a:ext cx="64008" cy="26517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6642DD-6ECB-4869-AF3A-7A68C4A4EBE4}"/>
              </a:ext>
            </a:extLst>
          </p:cNvPr>
          <p:cNvSpPr/>
          <p:nvPr/>
        </p:nvSpPr>
        <p:spPr>
          <a:xfrm>
            <a:off x="749808" y="1863536"/>
            <a:ext cx="7772400" cy="64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01B3CA7-E2FC-378F-B07E-C985C6D8EE7D}"/>
              </a:ext>
            </a:extLst>
          </p:cNvPr>
          <p:cNvSpPr/>
          <p:nvPr/>
        </p:nvSpPr>
        <p:spPr>
          <a:xfrm>
            <a:off x="749808" y="18745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BAF3E3-216E-C052-B1ED-B469D4FC6C51}"/>
              </a:ext>
            </a:extLst>
          </p:cNvPr>
          <p:cNvSpPr/>
          <p:nvPr/>
        </p:nvSpPr>
        <p:spPr>
          <a:xfrm>
            <a:off x="749808" y="2651760"/>
            <a:ext cx="3657600" cy="41148"/>
          </a:xfrm>
          <a:prstGeom prst="rect">
            <a:avLst/>
          </a:prstGeom>
          <a:solidFill>
            <a:srgbClr val="4C6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48B4FF6-5219-9EE6-54F7-B24C949CA1CC}"/>
              </a:ext>
            </a:extLst>
          </p:cNvPr>
          <p:cNvSpPr/>
          <p:nvPr/>
        </p:nvSpPr>
        <p:spPr>
          <a:xfrm>
            <a:off x="749808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a write up is available on my GitHub page linked HERE.</a:t>
            </a:r>
            <a:endParaRPr lang="en-US" sz="1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96F215-43AC-AE44-47F9-4DED6677F6D5}"/>
              </a:ext>
            </a:extLst>
          </p:cNvPr>
          <p:cNvSpPr/>
          <p:nvPr/>
        </p:nvSpPr>
        <p:spPr>
          <a:xfrm>
            <a:off x="749808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 Ballard · 2026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1174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2103</Words>
  <Application>Microsoft Macintosh PowerPoint</Application>
  <PresentationFormat>On-screen Show (16:9)</PresentationFormat>
  <Paragraphs>371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Modeling Lunch &amp; Learn</dc:title>
  <dc:subject>PptxGenJS Presentation</dc:subject>
  <dc:creator>PptxGenJS</dc:creator>
  <cp:lastModifiedBy>Charlie Ballard</cp:lastModifiedBy>
  <cp:revision>8</cp:revision>
  <dcterms:created xsi:type="dcterms:W3CDTF">2026-04-08T14:56:16Z</dcterms:created>
  <dcterms:modified xsi:type="dcterms:W3CDTF">2026-04-08T15:44:53Z</dcterms:modified>
</cp:coreProperties>
</file>