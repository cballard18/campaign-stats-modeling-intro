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5875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33AA-1EE0-8170-C171-0012BF1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D52B61-459C-5E4A-3699-D39D0AA3D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3FB8A-C5EE-F590-4D76-BF2DE31CC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190A2-169F-7F2A-9CEB-14EF0E6D46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429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ballard18/campaign-stats-modeling-intro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64008" cy="26517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7" y="1744050"/>
            <a:ext cx="8029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Modeling for Campaigns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49808" y="2651760"/>
            <a:ext cx="3657600" cy="41148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7891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 Into Using Statistics and Data Science Techniques to Answer Campaign Questions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49808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 Ballard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Doing Today?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we're using statistical modeling to answer three real campaign questions. The techniques are broadly applicable — but the examples are specific.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51460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2514600" cy="137160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67512" y="16642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5E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67512" y="224942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67512" y="2715768"/>
            <a:ext cx="219456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" y="2816352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how much was spent on each Issue 1 ad, how much more or less memorable was it than expected?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7512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for an advocacy group · 2023 General Election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417320"/>
            <a:ext cx="251460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0" y="1417320"/>
            <a:ext cx="2514600" cy="137160"/>
          </a:xfrm>
          <a:prstGeom prst="rect">
            <a:avLst/>
          </a:prstGeom>
          <a:solidFill>
            <a:srgbClr val="0D6E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64992" y="16642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364992" y="224942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and Classification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64992" y="2715768"/>
            <a:ext cx="219456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64992" y="2816352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identify Ohio counties that behave similarly in terms of 2024 General Election results?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segmentation · 88 Ohio counties · 2024 General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897880" y="1417320"/>
            <a:ext cx="251460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97880" y="1417320"/>
            <a:ext cx="2514600" cy="1371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62472" y="16642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062472" y="224942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62472" y="2715768"/>
            <a:ext cx="219456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062472" y="2816352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build audiences around Trump approval rating and Issue 1 vote results?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62472" y="41879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modeling · ~925 Ohio voter survey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</a:p>
        </p:txBody>
      </p:sp>
      <p:sp>
        <p:nvSpPr>
          <p:cNvPr id="5" name="Shape 3"/>
          <p:cNvSpPr/>
          <p:nvPr/>
        </p:nvSpPr>
        <p:spPr>
          <a:xfrm>
            <a:off x="685800" y="2907792"/>
            <a:ext cx="3657600" cy="4572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spending  ·  Voter recall  ·  Issue 1 campaign  ·  2023 General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Issue 1 Ad Campaign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926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926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ea typeface="Calibri" pitchFamily="34" charset="-122"/>
                <a:cs typeface="Calibri" pitchFamily="34" charset="-120"/>
              </a:rPr>
              <a:t>Ad spending and voter recall data from the 2023 Ohio Issue 1 campaign. For each ad: how much was spent and what % of voters recalled seeing it.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6272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2128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417320" y="23774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ads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980944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1417320" y="31821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NO-side ads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785616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2219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417320" y="398678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YES-side ads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804672"/>
          <a:ext cx="4800600" cy="3922776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Creative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Side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Spending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Protecting Predators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$227,000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21%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Women's Health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$927,020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Hurt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$581,868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After Viability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$1,407,863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42%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Martin Haskell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$1,554,932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Studied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</a:rPr>
                        <a:t>NO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$3,499,222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76%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True Story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$1,998,163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Insane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$1,838,141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51%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Do Not Judge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$1,653,698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44%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Broken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$1,603,698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47%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Linear Regression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finds the single straight line that best describes the relationship between two variables — minimizing the total distance from every data point to the line.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meaningful relationship between ad spending and voter recall? If so, which ads over- or under-performed that expectation?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913632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statistics background needed — think of it as finding the line that best captures the pattern in a scatter plot.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425196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4251960" cy="137160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Setup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481328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153619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regressions: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Spend → Recall and Recall → Spend separately, to read the relationship in both directions.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139696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92040" y="21945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intercept: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lines are forced through the origin. If you spend nothing, you get zero recall — a deliberate assumption.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798064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8529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predictor: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uses a single input variable. Simplicity is a feature here, not a limitation.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456432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coefficient, an R², and a residual ("surplus") for every ad.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vs. Recall: The Pattern</a:t>
            </a:r>
            <a:endParaRPr lang="en-US" sz="2200" dirty="0"/>
          </a:p>
        </p:txBody>
      </p:sp>
      <p:pic>
        <p:nvPicPr>
          <p:cNvPr id="4" name="Image 0" descr="/sessions/clever-eloquent-edison/mnt/Lunch and Learn/plots/spending_vs_rec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22960"/>
            <a:ext cx="521208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841248"/>
            <a:ext cx="3108960" cy="39136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760720" y="841248"/>
            <a:ext cx="310896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25312" y="1042416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Question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25312" y="146304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relationship between how much an ad spends and how well voters remember it?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25312" y="2267712"/>
            <a:ext cx="27889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25312" y="2377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25312" y="27432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spending → higher recall. But some ads punch above their weight while others underperform — that gap is what we measure.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25312" y="395020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TV ads  ·  YES &amp; NO sides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Model Fits: Coefficients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6908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069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44752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draws the best-fit line through the data. We ran TWO regressions (both anchored at the origin — no intercept):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3703320" cy="621792"/>
          </a:xfrm>
          <a:prstGeom prst="rect">
            <a:avLst/>
          </a:prstGeom>
          <a:solidFill>
            <a:srgbClr val="E8E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64008" cy="62179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232257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= β</a:t>
            </a:r>
            <a:r>
              <a:rPr lang="en-US" sz="1400" b="1" baseline="-25000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4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Recall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" y="265176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expected recall from spending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980944"/>
            <a:ext cx="3703320" cy="621792"/>
          </a:xfrm>
          <a:prstGeom prst="rect">
            <a:avLst/>
          </a:prstGeom>
          <a:solidFill>
            <a:srgbClr val="E8ED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980944"/>
            <a:ext cx="64008" cy="621792"/>
          </a:xfrm>
          <a:prstGeom prst="rect">
            <a:avLst/>
          </a:prstGeom>
          <a:solidFill>
            <a:srgbClr val="0D6E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301752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β</a:t>
            </a:r>
            <a:r>
              <a:rPr lang="en-US" sz="1400" b="1" baseline="-25000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Spending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" y="3346704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expected spend from recall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675888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76732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spend nothing, you get zero recall — built into both models by design.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0" y="822960"/>
            <a:ext cx="425196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0" y="822960"/>
            <a:ext cx="4251960" cy="137160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1463040"/>
            <a:ext cx="3886200" cy="96012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15087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= 3,797,090   ·   R² = 0.94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92040" y="1920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+1 pt of recall → ~$38,000 more in spend. 50% recall ~1.89M estimated spend.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542032"/>
            <a:ext cx="3886200" cy="96012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25877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6E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= 0.0000002484   ·   R² = 0.94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92040" y="299923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+$100K in spend → ~2.5 more pts of recall. 1M spend ~24.5% recall.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3639312"/>
            <a:ext cx="388620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54880" y="37490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0.94 — the model explains 94% of variation. A very strong fit for a single-variable model.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Results: Surplus Columns</a:t>
            </a:r>
            <a:endParaRPr lang="en-US" sz="2200" dirty="0"/>
          </a:p>
        </p:txBody>
      </p:sp>
      <p:pic>
        <p:nvPicPr>
          <p:cNvPr id="4" name="Image 0" descr="/sessions/clever-eloquent-edison/mnt/Lunch and Learn/plots/results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4636008"/>
            <a:ext cx="9144000" cy="50749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365760" y="4636008"/>
            <a:ext cx="8412480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Surplus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actual minus predicted spend.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Surplus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actual minus predicted recall.  Positive = overperformed; negative = underperformed.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and Classification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85800" y="2907792"/>
            <a:ext cx="3657600" cy="457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Ohio counties  ·  Trump percentile  ·  Turnout percentile  ·  2024 General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88 Ohio Counties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926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9260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463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ea typeface="Calibri" pitchFamily="34" charset="-122"/>
                <a:cs typeface="Calibri" pitchFamily="34" charset="-120"/>
              </a:rPr>
              <a:t>2024 General Election results for all 88 Ohio counties, converted to percentile ranks. Variables are ranked by percentile so each dimension is on the same scale, and for interpretability.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12848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24942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417320" y="24140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counties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054096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1417320" y="3218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variables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22192"/>
            <a:ext cx="2560320" cy="713232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5876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D9488"/>
                </a:solidFill>
                <a:latin typeface="Calibri" pitchFamily="34" charset="0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1417320" y="40233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902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804672"/>
          <a:ext cx="5303520" cy="3922776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County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Turnout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Trump Votes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Harris Votes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70.9%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10,269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2,098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Allen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70.8%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33,201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12,754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Ashland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77.8%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19,863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6,544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Ashtabula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71.5%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27,656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15,345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Athens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68.0%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11,369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14,134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Franklin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66.4%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214,005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335,218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Cuyahoga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65.2%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178,900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371,256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Warren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79.2%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82,503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33,409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Delaware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79.8%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80,211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</a:rPr>
                        <a:t>51,432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6616"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i="1" dirty="0">
                          <a:solidFill>
                            <a:srgbClr val="64748B"/>
                          </a:solidFill>
                        </a:rPr>
                        <a:t>… 79 more counties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K-Means Clustering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is an unsupervised algorithm — it finds natural groupings in data without being told the right answer. You give it a number of clusters </a:t>
            </a:r>
            <a:r>
              <a:rPr lang="en-US" sz="1200" b="1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it figures out which points belong together.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Ohio counties naturally sort into distinct political types based on how Republican they lean and how engaged their voters are?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913632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regression, there's no outcome to predict — the algorithm discovers structure that already exists in the data.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425196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4251960" cy="137160"/>
          </a:xfrm>
          <a:prstGeom prst="rect">
            <a:avLst/>
          </a:prstGeom>
          <a:solidFill>
            <a:srgbClr val="0D6EA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463040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5179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k starting centroids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place k cluster centers in the data space.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121408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121408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73168" y="223113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02352" y="2176272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each county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county joins whichever centroid it's closest to.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779776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779776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3168" y="288950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02352" y="2834640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centroids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each centroid to the average position of its counties.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438144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438144"/>
            <a:ext cx="274320" cy="58521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54787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02352" y="3493008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stable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stop changing — clusters have converged.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K: The Elbow Plot</a:t>
            </a:r>
            <a:endParaRPr lang="en-US" sz="2200" dirty="0"/>
          </a:p>
        </p:txBody>
      </p:sp>
      <p:pic>
        <p:nvPicPr>
          <p:cNvPr id="4" name="Image 0" descr="/sessions/clever-eloquent-edison/mnt/Lunch and Learn/plots/elbow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4672"/>
            <a:ext cx="512064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0" y="822960"/>
            <a:ext cx="315468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669280" y="822960"/>
            <a:ext cx="31546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833872" y="10241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Pick K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833872" y="14813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needs a value for k before it runs. The elbow plot helps us choose wisely.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33872" y="21945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shows how tight the clusters are — lower is more compact. We look for the elbow: the point where adding more clusters stops giving much benefit.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833872" y="3364992"/>
            <a:ext cx="2834640" cy="50292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870448" y="3392424"/>
            <a:ext cx="27432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4 is the sweet spot.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33872" y="395020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clusters give us meaningfully different groups without over-splitting.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Clusters: Mapped</a:t>
            </a:r>
            <a:endParaRPr lang="en-US" sz="2200" dirty="0"/>
          </a:p>
        </p:txBody>
      </p:sp>
      <p:pic>
        <p:nvPicPr>
          <p:cNvPr id="4" name="Image 0" descr="/sessions/clever-eloquent-edison/mnt/Lunch and Learn/plots/cluste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77240"/>
            <a:ext cx="4754880" cy="3337560"/>
          </a:xfrm>
          <a:prstGeom prst="rect">
            <a:avLst/>
          </a:prstGeom>
        </p:spPr>
      </p:pic>
      <p:pic>
        <p:nvPicPr>
          <p:cNvPr id="5" name="Image 1" descr="/sessions/clever-eloquent-edison/mnt/Lunch and Learn/plots/cluster_prof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777240"/>
            <a:ext cx="3840480" cy="33375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0" y="4224528"/>
            <a:ext cx="91440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65760" y="425196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counties colored by cluster  ·  Right: how each cluster compares to the statewide average on Trump and turnout percentile </a:t>
            </a:r>
          </a:p>
          <a:p>
            <a:pPr marL="0" indent="0">
              <a:buNone/>
            </a:pP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(dashed line = 50</a:t>
            </a:r>
            <a:r>
              <a:rPr lang="en-US" sz="1200" i="1" baseline="30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2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percentile)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Four Clusters?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91440" cy="190195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87782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896112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High-Engagement Republican Base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353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counties   ·   Trump: ~80th pct   ·   Turnout: ~78th pct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190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Trump percentiles + above-average turnout. Rural counties that show up and vote reliably Republican — the backbone of statewide margins.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804672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804672"/>
            <a:ext cx="91440" cy="190195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87782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394960" y="896112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Low-Engagement Republican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353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counties   ·   Trump: ~75th pct   ·   Turnout: ~27th pct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37760" y="17190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as red as Cluster 1 but well below average turnout. The clearest mobilization opportunity for a Republican campaign.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2834640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2834640"/>
            <a:ext cx="91440" cy="190195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9077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68680" y="2926080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High-Engagement Democrat Base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counties   ·   Trump: ~31st pct   ·   Turnout: ~74th pct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148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Trump support combined with high turnout. Suburban counties where Democrats are most competitive — turnout already isn't the problem here.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834640"/>
            <a:ext cx="4160520" cy="19019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54880" y="2834640"/>
            <a:ext cx="91440" cy="190195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29077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394960" y="2926080"/>
            <a:ext cx="3374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Low-Engagement Democrat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93776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counties   ·   Trump: ~22nd pct   ·   Turnout: ~23rd pct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3749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Trump percentiles paired with below-average turnout. Ohio's urban cores and Rust Belt cities. The largest upside for a Democratic mobilization effort.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5800" dirty="0"/>
          </a:p>
        </p:txBody>
      </p:sp>
      <p:sp>
        <p:nvSpPr>
          <p:cNvPr id="5" name="Shape 3"/>
          <p:cNvSpPr/>
          <p:nvPr/>
        </p:nvSpPr>
        <p:spPr>
          <a:xfrm>
            <a:off x="685800" y="2926080"/>
            <a:ext cx="365760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309067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~925 Ohio voters  ·  Demographics  ·  Trump favorability  ·  Issue 1 vote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Data: Ohio Voter Survey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926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92608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post-election survey of Ohio voters with demographic characteristics and self-reported answers on two political outcomes.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2560320" cy="658368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368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~925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91640" y="249631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Ohio respondents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2560320" cy="658368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118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91640" y="3246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inputs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31336"/>
            <a:ext cx="2560320" cy="658368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6791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691640" y="399592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to predict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804672"/>
            <a:ext cx="260604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429000" y="804672"/>
            <a:ext cx="260604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84448" y="10058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584448" y="1536192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767328" y="14813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84448" y="1847088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67328" y="1792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84448" y="2157984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767328" y="2103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84448" y="2468880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67328" y="241401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584448" y="2779776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767328" y="27249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584448" y="3090672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767328" y="303580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84448" y="3401568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767328" y="33467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84448" y="3712464"/>
            <a:ext cx="91440" cy="20116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76732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Ethnicity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804672"/>
            <a:ext cx="256032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263640" y="804672"/>
            <a:ext cx="2560320" cy="1371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19088" y="1005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19088" y="1481328"/>
            <a:ext cx="2240280" cy="123444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510528" y="153619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 Image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10528" y="19202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vs.  </a:t>
            </a: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Unfavorable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10528" y="2304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19088" y="2852928"/>
            <a:ext cx="2240280" cy="1234440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510528" y="290779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Vote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10528" y="329184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Voted Yes</a:t>
            </a: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vs.  </a:t>
            </a: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Voted No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10528" y="36758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Model: XGBoost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(eXtreme Gradient Boosting) builds a series of decision trees — each one learning from the mistakes of the last. The final prediction combines all the trees.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demographic variables best predict Trump favorability? Which best predict Issue 1 vote? Do those rankings differ — and if so, how?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58768"/>
            <a:ext cx="37033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95020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powerful than linear regression — handles non-linear relationships and interactions between variables automatically.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425196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4251960" cy="13716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100584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463040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73168" y="15727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02352" y="15179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1 makes a rough guess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decision tree predicts the outcome for each respondent.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121408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121408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73168" y="2231136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02352" y="2176272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2 corrects the errors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tree focuses on where Tree 1 got it wrong.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779776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2779776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73168" y="288950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02352" y="2834640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100 times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 refines the model. Errors shrink with every tree.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438144"/>
            <a:ext cx="3886200" cy="58521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754880" y="3438144"/>
            <a:ext cx="274320" cy="58521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73168" y="3547872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02352" y="3493008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probabilities + importance  </a:t>
            </a: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model scores each respondent and ranks which features mattered most.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Importance: Trump Favorability vs. Issue 1 Vote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 Favorability</a:t>
            </a:r>
            <a:endParaRPr lang="en-US" sz="1400" dirty="0"/>
          </a:p>
        </p:txBody>
      </p:sp>
      <p:pic>
        <p:nvPicPr>
          <p:cNvPr id="5" name="Image 0" descr="/sessions/clever-eloquent-edison/mnt/Lunch and Learn/plots/xgb_importance_tru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34440"/>
            <a:ext cx="411480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Vote</a:t>
            </a:r>
            <a:endParaRPr lang="en-US" sz="1400" dirty="0"/>
          </a:p>
        </p:txBody>
      </p:sp>
      <p:pic>
        <p:nvPicPr>
          <p:cNvPr id="7" name="Image 1" descr="/sessions/clever-eloquent-edison/mnt/Lunch and Learn/plots/xgb_importance_issu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234440"/>
            <a:ext cx="4114800" cy="35661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365760" y="4828032"/>
            <a:ext cx="84124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= how much each feature helped make correct predictions. Notice how the feature ranking shifts between the two models — that gap is the interesting finding.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Did the Models Do? (20% Held-Out Test Set)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69080" cy="137160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 Favorability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4475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4C6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761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Unfavorable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Favorable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0.56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moderate agreement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8587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at identifying unfavorable — the larger, more consistent group. Consider the sample bias towards Trump favorability.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00600" y="804672"/>
            <a:ext cx="40690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00600" y="804672"/>
            <a:ext cx="406908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83480" y="1005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 Vote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44475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4983480" y="22219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2761488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Voted Yes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rate — Voted No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0.61 </a:t>
            </a: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moderate-to-good agreement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8587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balanced across both outcomes — slightly more consistent predictor for Issue 1.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Models: Scoring Every Voter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3840480" cy="399592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84048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to Action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trained, the XGBoost models are applied back to all 925 respondents — not just the held-out test set. Each person gets two scores: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3474720" cy="621792"/>
          </a:xfrm>
          <a:prstGeom prst="rect">
            <a:avLst/>
          </a:prstGeom>
          <a:solidFill>
            <a:srgbClr val="FFF8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64008" cy="6217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" y="24048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trump_fav_score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1792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respondent views Trump favorably (0 → 1)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072384"/>
            <a:ext cx="3474720" cy="621792"/>
          </a:xfrm>
          <a:prstGeom prst="rect">
            <a:avLst/>
          </a:prstGeom>
          <a:solidFill>
            <a:srgbClr val="F0FD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64008" cy="6217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30998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issue1_score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" y="3392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respondent voted Yes on Issue 1 (0 → 1)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3474720" cy="36576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target: </a:t>
            </a: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issue1_score &gt; 0.6 AND trump_fav_score &lt; 0.4 → cross-pressured voters who backed Issue 1 but are skeptical of Trump.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43400" y="8046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Predicted Scores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207008"/>
          <a:ext cx="4526280" cy="23317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Party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Gender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Age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Trump Fav Score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Issue 1 Score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Republican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65+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0.85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0.18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Independent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45–64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0.76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0.26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No Party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Female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45–64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0.58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</a:rPr>
                        <a:t>0.37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Democrat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Female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65+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0.09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0.89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Democrat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Female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</a:rPr>
                        <a:t>65+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0.11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0.86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343400" y="3630168"/>
            <a:ext cx="448056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8"/>
          <p:cNvSpPr/>
          <p:nvPr/>
        </p:nvSpPr>
        <p:spPr>
          <a:xfrm>
            <a:off x="4343400" y="3630168"/>
            <a:ext cx="4480560" cy="1097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498848" y="376732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these scores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98848" y="41148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can be matched to a voter file to build targetable audiences — e.g. rank by issue1_score to prioritize persuasion outreach, or filter by both scores to find cross-pressured voters.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2651760" cy="42473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651760" cy="347472"/>
          </a:xfrm>
          <a:prstGeom prst="rect">
            <a:avLst/>
          </a:prstGeom>
          <a:solidFill>
            <a:srgbClr val="3B5E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822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15214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9768" y="12161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9768" y="145389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Issue 1 ads over- or under-recalled relative to their spend?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2029968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" y="2093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29768" y="2350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R² = 0.94 — spend explains nearly all recall variance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9768" y="2633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Coefficients have direct dollar-per-point interpretation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9169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Residuals immediately rank each ad's efficiency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325526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9768" y="3319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Limitations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29768" y="3575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Only captures straight-line relationships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" y="38313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Can't control for creative quality or ad placement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4142232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" y="42062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 expand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29768" y="4462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GRP, markets, flight duration as predictors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9768" y="4718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to digital channels and cross-campaign comparison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154680" y="804672"/>
            <a:ext cx="2651760" cy="42473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54680" y="804672"/>
            <a:ext cx="2651760" cy="34747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64408" y="822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154680" y="115214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64408" y="12161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64408" y="145389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Ohio's 88 counties into 4 politically distinct types.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54680" y="2029968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64408" y="2093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4408" y="2350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labeled data needed — finds natural structure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64408" y="2633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profiles immediately actionable for targeting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64408" y="29169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Scales to any number of features or geographies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154680" y="325526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64408" y="3319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Limitations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264408" y="3575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Choosing k involves judgment; clusters can shift between runs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64408" y="38313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Doesn't explain why counties group together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154680" y="4142232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64408" y="42062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 expand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40" name="Text 38"/>
          <p:cNvSpPr/>
          <p:nvPr/>
        </p:nvSpPr>
        <p:spPr>
          <a:xfrm>
            <a:off x="3264408" y="4462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more variables like senate/congressional results or census data. </a:t>
            </a:r>
          </a:p>
        </p:txBody>
      </p:sp>
      <p:sp>
        <p:nvSpPr>
          <p:cNvPr id="41" name="Text 39"/>
          <p:cNvSpPr/>
          <p:nvPr/>
        </p:nvSpPr>
        <p:spPr>
          <a:xfrm>
            <a:off x="3264408" y="4718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cluster drift across election cycles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89320" y="804672"/>
            <a:ext cx="2651760" cy="42473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989320" y="804672"/>
            <a:ext cx="2651760" cy="347472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099048" y="822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89320" y="115214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99048" y="12161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099048" y="1453896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all 925 respondents for Trump approval and Issue 1 propensity.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989320" y="2029968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99048" y="20939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Strengths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099048" y="2350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80–81% accuracy from 8 demographic inputs alone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99048" y="2633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Feature importance reveals which variables actually drive each outcome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99048" y="29169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Scores usable directly for audience segmentation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989320" y="3255264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099048" y="3319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Limitations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099048" y="3575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labeled outcomes to train; less interpretable at scale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099048" y="383133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revalidation for new geographies or election cycles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989320" y="4142232"/>
            <a:ext cx="2651760" cy="36576"/>
          </a:xfrm>
          <a:prstGeom prst="rect">
            <a:avLst/>
          </a:prstGeom>
          <a:solidFill>
            <a:srgbClr val="EEF2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099048" y="42062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 expand</a:t>
            </a:r>
            <a:endParaRPr lang="en-US" sz="800" dirty="0">
              <a:solidFill>
                <a:schemeClr val="accent1"/>
              </a:solidFill>
            </a:endParaRPr>
          </a:p>
        </p:txBody>
      </p:sp>
      <p:sp>
        <p:nvSpPr>
          <p:cNvPr id="59" name="Text 57"/>
          <p:cNvSpPr/>
          <p:nvPr/>
        </p:nvSpPr>
        <p:spPr>
          <a:xfrm>
            <a:off x="6099048" y="44622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Push scores to full voter file for targeted outreach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099048" y="471830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Retrain with behavioral data (donation history, contact rates)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36160-5100-11F1-F9D8-0AD127FE5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7E7CAB2-B4D8-F8C9-E644-70123304F1C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766ED4B-63E1-FCB4-F6EA-21B57C73A44D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D5CC95F-3ED4-99DA-724F-E37207777A4A}"/>
              </a:ext>
            </a:extLst>
          </p:cNvPr>
          <p:cNvSpPr/>
          <p:nvPr/>
        </p:nvSpPr>
        <p:spPr>
          <a:xfrm>
            <a:off x="502920" y="1234440"/>
            <a:ext cx="64008" cy="265176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6642DD-6ECB-4869-AF3A-7A68C4A4EBE4}"/>
              </a:ext>
            </a:extLst>
          </p:cNvPr>
          <p:cNvSpPr/>
          <p:nvPr/>
        </p:nvSpPr>
        <p:spPr>
          <a:xfrm>
            <a:off x="749808" y="1863536"/>
            <a:ext cx="7772400" cy="64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01B3CA7-E2FC-378F-B07E-C985C6D8EE7D}"/>
              </a:ext>
            </a:extLst>
          </p:cNvPr>
          <p:cNvSpPr/>
          <p:nvPr/>
        </p:nvSpPr>
        <p:spPr>
          <a:xfrm>
            <a:off x="749808" y="18745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5BAF3E3-216E-C052-B1ED-B469D4FC6C51}"/>
              </a:ext>
            </a:extLst>
          </p:cNvPr>
          <p:cNvSpPr/>
          <p:nvPr/>
        </p:nvSpPr>
        <p:spPr>
          <a:xfrm>
            <a:off x="749808" y="2651760"/>
            <a:ext cx="3657600" cy="41148"/>
          </a:xfrm>
          <a:prstGeom prst="rect">
            <a:avLst/>
          </a:prstGeom>
          <a:solidFill>
            <a:srgbClr val="4C6E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48B4FF6-5219-9EE6-54F7-B24C949CA1CC}"/>
              </a:ext>
            </a:extLst>
          </p:cNvPr>
          <p:cNvSpPr/>
          <p:nvPr/>
        </p:nvSpPr>
        <p:spPr>
          <a:xfrm>
            <a:off x="749808" y="27889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a write up is available on my GitHub page linked 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HERE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996F215-43AC-AE44-47F9-4DED6677F6D5}"/>
              </a:ext>
            </a:extLst>
          </p:cNvPr>
          <p:cNvSpPr/>
          <p:nvPr/>
        </p:nvSpPr>
        <p:spPr>
          <a:xfrm>
            <a:off x="749808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 Ballard · 2026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11741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2105</Words>
  <Application>Microsoft Macintosh PowerPoint</Application>
  <PresentationFormat>On-screen Show (16:9)</PresentationFormat>
  <Paragraphs>370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Modeling Lunch &amp; Learn</dc:title>
  <dc:subject>PptxGenJS Presentation</dc:subject>
  <dc:creator>PptxGenJS</dc:creator>
  <cp:lastModifiedBy>Charlie Ballard</cp:lastModifiedBy>
  <cp:revision>10</cp:revision>
  <dcterms:created xsi:type="dcterms:W3CDTF">2026-04-08T14:56:16Z</dcterms:created>
  <dcterms:modified xsi:type="dcterms:W3CDTF">2026-04-08T15:52:38Z</dcterms:modified>
</cp:coreProperties>
</file>